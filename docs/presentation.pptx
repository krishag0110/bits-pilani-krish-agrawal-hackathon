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dd24196e5944fa" /><Relationship Type="http://schemas.openxmlformats.org/officeDocument/2006/relationships/extended-properties" Target="/docProps/app.xml" Id="R35428de0cf774af7" /><Relationship Type="http://schemas.openxmlformats.org/officeDocument/2006/relationships/officeDocument" Target="/ppt/presentation.xml" Id="Reb5df86f839245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8deec8bc494f3f"/>
  </p:sldMasterIdLst>
  <p:notesMasterIdLst>
    <p:notesMasterId xmlns:r="http://schemas.openxmlformats.org/officeDocument/2006/relationships" r:id="R3d1cbb13777d48d8"/>
  </p:notesMasterIdLst>
  <p:sldIdLst>
    <p:sldId xmlns:r="http://schemas.openxmlformats.org/officeDocument/2006/relationships" id="256" r:id="R3dfd28844f844dd0"/>
    <p:sldId xmlns:r="http://schemas.openxmlformats.org/officeDocument/2006/relationships" id="257" r:id="R2997f5b2124a4759"/>
    <p:sldId xmlns:r="http://schemas.openxmlformats.org/officeDocument/2006/relationships" id="258" r:id="Rf7bd6369c8e44329"/>
    <p:sldId xmlns:r="http://schemas.openxmlformats.org/officeDocument/2006/relationships" id="259" r:id="R1ff6124a31a34609"/>
    <p:sldId xmlns:r="http://schemas.openxmlformats.org/officeDocument/2006/relationships" id="260" r:id="R1a00a35be6384c52"/>
    <p:sldId xmlns:r="http://schemas.openxmlformats.org/officeDocument/2006/relationships" id="261" r:id="R13931ecf299941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f600b773c4c57" /><Relationship Type="http://schemas.openxmlformats.org/officeDocument/2006/relationships/slideMaster" Target="/ppt/slideMasters/slideMaster1.xml" Id="Ra18deec8bc494f3f" /><Relationship Type="http://schemas.openxmlformats.org/officeDocument/2006/relationships/notesMaster" Target="/ppt/notesMasters/notesMaster1.xml" Id="R3d1cbb13777d48d8" /><Relationship Type="http://schemas.openxmlformats.org/officeDocument/2006/relationships/presProps" Target="/ppt/presProps.xml" Id="R458e4b64b6f14f3b" /><Relationship Type="http://schemas.openxmlformats.org/officeDocument/2006/relationships/tableStyles" Target="/ppt/tableStyles.xml" Id="Re5caa55e3f1b44e8" /><Relationship Type="http://schemas.openxmlformats.org/officeDocument/2006/relationships/slide" Target="/ppt/slides/slide1.xml" Id="R3dfd28844f844dd0" /><Relationship Type="http://schemas.openxmlformats.org/officeDocument/2006/relationships/slide" Target="/ppt/slides/slide2.xml" Id="R2997f5b2124a4759" /><Relationship Type="http://schemas.openxmlformats.org/officeDocument/2006/relationships/slide" Target="/ppt/slides/slide3.xml" Id="Rf7bd6369c8e44329" /><Relationship Type="http://schemas.openxmlformats.org/officeDocument/2006/relationships/slide" Target="/ppt/slides/slide4.xml" Id="R1ff6124a31a34609" /><Relationship Type="http://schemas.openxmlformats.org/officeDocument/2006/relationships/slide" Target="/ppt/slides/slide5.xml" Id="R1a00a35be6384c52" /><Relationship Type="http://schemas.openxmlformats.org/officeDocument/2006/relationships/slide" Target="/ppt/slides/slide6.xml" Id="R13931ecf299941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bc42172cae4b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7effc155e41fc" /><Relationship Type="http://schemas.openxmlformats.org/officeDocument/2006/relationships/notesMaster" Target="/ppt/notesMasters/notesMaster1.xml" Id="R7b9306b746064e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919a08000242d2" /><Relationship Type="http://schemas.openxmlformats.org/officeDocument/2006/relationships/notesMaster" Target="/ppt/notesMasters/notesMaster1.xml" Id="Rb1fda47efa634d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04bdd2ecfd4dad" /><Relationship Type="http://schemas.openxmlformats.org/officeDocument/2006/relationships/notesMaster" Target="/ppt/notesMasters/notesMaster1.xml" Id="Raab3a6db6668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c1110e44674e1c" /><Relationship Type="http://schemas.openxmlformats.org/officeDocument/2006/relationships/notesMaster" Target="/ppt/notesMasters/notesMaster1.xml" Id="R456470e70fc648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392671c58541c1" /><Relationship Type="http://schemas.openxmlformats.org/officeDocument/2006/relationships/notesMaster" Target="/ppt/notesMasters/notesMaster1.xml" Id="R5c24f66558054f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cc2d5f55b7479d" /><Relationship Type="http://schemas.openxmlformats.org/officeDocument/2006/relationships/notesMaster" Target="/ppt/notesMasters/notesMaster1.xml" Id="R608146bebec34d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problem: live text is hard to turn into a first-pass portfolio risk view.</a:t>
            </a:r>
          </a:p>
          <a:p xmlns:a="http://schemas.openxmlformats.org/drawingml/2006/main">
            <a:r>
              <a:t>This prototype combines the required risk engine with Module B, strategic portfolio stress testing.</a:t>
            </a:r>
          </a:p>
          <a:p xmlns:a="http://schemas.openxmlformats.org/drawingml/2006/main">
            <a:r>
              <a:t>Candidate: Krish Agrawal, BITS Pilani, Pilani Campus.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statement: detect financially relevant events in text and translate them into structured risk signals.</a:t>
            </a:r>
          </a:p>
          <a:p xmlns:a="http://schemas.openxmlformats.org/drawingml/2006/main">
            <a:r>
              <a:t>The project scope is a prototype. Every portfolio position is synthetic.</a:t>
            </a:r>
          </a:p>
          <a:p xmlns:a="http://schemas.openxmlformats.org/drawingml/2006/main">
            <a:r>
              <a:t>Two distinct text sources feed the same engine; a high-impact signal triggers Module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shows the live data path. The two source adapters converge into one signal schema.</a:t>
            </a:r>
          </a:p>
          <a:p xmlns:a="http://schemas.openxmlformats.org/drawingml/2006/main">
            <a:r>
              <a:t>The API exposes the same fields the stress engine consumes: sentiment, event classification and impact.</a:t>
            </a:r>
          </a:p>
          <a:p xmlns:a="http://schemas.openxmlformats.org/drawingml/2006/main">
            <a:r>
              <a:t>Module B applies an explicit event scenario to a synthetic portfolio and presents the before/after view.</a:t>
            </a:r>
          </a:p>
          <a:p xmlns:a="http://schemas.openxmlformats.org/drawingml/2006/main">
            <a:r>
              <a:t>GDELT DOC 2.0: https://blog.gdeltproject.org/gdelt-doc-2-0-api-debuts/ . Google News RSS supplies the alternate public headline route. Bluesky public feed schema: https://github.com/bluesky-social/atproto/blob/main/lexicons/app/bsky/feed/getAuthorFeed.json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actual model rather than claiming predictive accuracy. Each field has a defined scale.</a:t>
            </a:r>
          </a:p>
          <a:p xmlns:a="http://schemas.openxmlformats.org/drawingml/2006/main">
            <a:r>
              <a:t>The stress model is a sensitivity analysis with transparent shocks. It is not calibrated VaR.</a:t>
            </a:r>
          </a:p>
          <a:p xmlns:a="http://schemas.openxmlformats.org/drawingml/2006/main">
            <a:r>
              <a:t>Credit case at impact 10 also uses equities -6% and FX -2%. Every shock scales by impact_score / 10. Source: src/portfolio.py and docs/model-card.md.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Reproducible test event: Credit Event, impact 10/10.</a:t>
            </a:r>
          </a:p>
          <a:p xmlns:a="http://schemas.openxmlformats.org/drawingml/2006/main">
            <a:r>
              <a:t>Portfolio before 797; after 739.04; loss 57.96, all in USD millions.</a:t>
            </a:r>
          </a:p>
          <a:p xmlns:a="http://schemas.openxmlformats.org/drawingml/2006/main">
            <a:r>
              <a:t>Asset class loss contributions in USD millions: {"Loans":43.74,"Bonds":12.52,"Derivatives":1.7}.</a:t>
            </a:r>
          </a:p>
          <a:p xmlns:a="http://schemas.openxmlformats.org/drawingml/2006/main">
            <a:r>
              <a:t>All values are from the tested local demo scenario, not market forecasts.</a:t>
            </a:r>
          </a:p>
          <a:p xmlns:a="http://schemas.openxmlformats.org/drawingml/2006/main">
            <a:r>
              <a:t>Input: final bundled replay item in data/demo_signals.json. Output: src.model.RiskModel.analyze and src.portfolio.run_stress on data/portfolio.json. Per-position values round to two decimal USD millions before aggregation.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Five-minute live demo flow:</a:t>
            </a:r>
          </a:p>
          <a:p xmlns:a="http://schemas.openxmlformats.org/drawingml/2006/main">
            <a:r>
              <a:t>0:00–0:45  Introduce the two text sources and synthetic portfolio.</a:t>
            </a:r>
          </a:p>
          <a:p xmlns:a="http://schemas.openxmlformats.org/drawingml/2006/main">
            <a:r>
              <a:t>0:45–2:00  Refresh the feeds and inspect one structured risk signal with evidence.</a:t>
            </a:r>
          </a:p>
          <a:p xmlns:a="http://schemas.openxmlformats.org/drawingml/2006/main">
            <a:r>
              <a:t>2:00–3:30  Trigger Module B and show event-specific shocks and position impacts.</a:t>
            </a:r>
          </a:p>
          <a:p xmlns:a="http://schemas.openxmlformats.org/drawingml/2006/main">
            <a:r>
              <a:t>3:30–4:30  Compare portfolio before and after, then open the JSON/API output.</a:t>
            </a:r>
          </a:p>
          <a:p xmlns:a="http://schemas.openxmlformats.org/drawingml/2006/main">
            <a:r>
              <a:t>4:30–5:00  State model limits and next validation steps.</a:t>
            </a:r>
          </a:p>
          <a:p xmlns:a="http://schemas.openxmlformats.org/drawingml/2006/main">
            <a:r>
              <a:t>The separate recorded walkthrough requested by the submission guidelines is a ten-minute deliverable.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2b0595f0245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830e34cf74563" /><Relationship Type="http://schemas.openxmlformats.org/officeDocument/2006/relationships/slideLayout" Target="/ppt/slideLayouts/slideLayout1.xml" Id="R4dbd2e79604041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bd2e79604041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805350c9d4945" /><Relationship Type="http://schemas.openxmlformats.org/officeDocument/2006/relationships/notesSlide" Target="/ppt/notesSlides/notesSlide1.xml" Id="R420f6c204e224e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5a73109cf48bf" /><Relationship Type="http://schemas.openxmlformats.org/officeDocument/2006/relationships/notesSlide" Target="/ppt/notesSlides/notesSlide2.xml" Id="R3588056ee75742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c580d4e084abf" /><Relationship Type="http://schemas.openxmlformats.org/officeDocument/2006/relationships/notesSlide" Target="/ppt/notesSlides/notesSlide3.xml" Id="Rf34a623107ab47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914e3edfd4c28" /><Relationship Type="http://schemas.openxmlformats.org/officeDocument/2006/relationships/notesSlide" Target="/ppt/notesSlides/notesSlide4.xml" Id="Rc77fde53866c4e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b35c25d5a49a5" /><Relationship Type="http://schemas.openxmlformats.org/officeDocument/2006/relationships/chart" Target="/ppt/slides/charts/chart1.xml" Id="R202f476bc4a8463c" /><Relationship Type="http://schemas.openxmlformats.org/officeDocument/2006/relationships/notesSlide" Target="/ppt/notesSlides/notesSlide5.xml" Id="R1ae84d45d1e347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7cfe3a15a451e" /><Relationship Type="http://schemas.openxmlformats.org/officeDocument/2006/relationships/notesSlide" Target="/ppt/notesSlides/notesSlide6.xml" Id="R2d9edd32de5e4c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Scenario loss</c:v>
          </c:tx>
          <c:spPr>
            <a:solidFill xmlns:a="http://schemas.openxmlformats.org/drawingml/2006/main">
              <a:srgbClr val="B6464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6464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6464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64647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Derivatives</c:v>
                </c:pt>
                <c:pt idx="1">
                  <c:v>Bonds</c:v>
                </c:pt>
                <c:pt idx="2">
                  <c:v>Loans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1.7</c:v>
                </c:pt>
                <c:pt idx="1">
                  <c:v>12.52</c:v>
                </c:pt>
                <c:pt idx="2">
                  <c:v>43.74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0283D"/>
                  </a:solidFill>
                  <a:latin typeface="Rubik"/>
                  <a:ea typeface="Rubik"/>
                  <a:cs typeface="Rubik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CAD6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Rubik"/>
                <a:ea typeface="Rubik"/>
                <a:cs typeface="Rubik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87AD6B9-1D0D-4228-9B86-F841604E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E6DF"/>
                </a:solidFill>
                <a:latin typeface="Rubik"/>
                <a:ea typeface="Rubik"/>
                <a:cs typeface="Rubik"/>
              </a:defRPr>
            </a:pPr>
            <a:r>
              <a:rPr sz="1200" b="1">
                <a:solidFill>
                  <a:srgbClr val="BFE6DF"/>
                </a:solidFill>
                <a:latin typeface="Rubik"/>
                <a:ea typeface="Rubik"/>
                <a:cs typeface="Rubik"/>
              </a:rPr>
              <a:t>S&amp;P GLOBAL &amp; CRISIL CAMPUS HACKATHON 2026</a:t>
            </a:r>
          </a:p>
        </p:txBody>
      </p:sp>
      <p:sp>
        <p:nvSpPr>
          <p:cNvPr id="2" name="cover-project">
            <a:extLst xmlns:a="http://schemas.openxmlformats.org/drawingml/2006/main">
              <a:ext uri="{FF2B5EF4-FFF2-40B4-BE49-F238E27FC236}">
                <a16:creationId xmlns:a16="http://schemas.microsoft.com/office/drawing/2014/main" id="{7FCBFEA1-D1AD-4D7A-A05A-0EC3D17B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5625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SignalScope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C3A65BA6-DFE5-4F7E-A53F-C01073F8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FE6DF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7AA0D7A-E6AF-4BDF-A860-6FAC7FCB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2850" b="0">
                <a:solidFill>
                  <a:srgbClr val="FFFFFF"/>
                </a:solidFill>
                <a:latin typeface="Rubik"/>
                <a:ea typeface="Rubik"/>
                <a:cs typeface="Rubik"/>
              </a:rPr>
              <a:t>Risk intelligence for wholesale portfolios</a:t>
            </a:r>
          </a:p>
        </p:txBody>
      </p:sp>
      <p:sp>
        <p:nvSpPr>
          <p:cNvPr id="5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C531EAFE-8B6C-43D2-B5DA-B0C02032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5DE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C7D5DE"/>
                </a:solidFill>
                <a:latin typeface="Rubik"/>
                <a:ea typeface="Rubik"/>
                <a:cs typeface="Rubik"/>
              </a:rPr>
              <a:t>AI/NLP risk engine and strategic portfolio stress testing</a:t>
            </a:r>
          </a:p>
        </p:txBody>
      </p:sp>
      <p:sp>
        <p:nvSpPr>
          <p:cNvPr id="6" name="cover-candidate">
            <a:extLst xmlns:a="http://schemas.openxmlformats.org/drawingml/2006/main">
              <a:ext uri="{FF2B5EF4-FFF2-40B4-BE49-F238E27FC236}">
                <a16:creationId xmlns:a16="http://schemas.microsoft.com/office/drawing/2014/main" id="{A651ED71-8B3E-4038-B621-84FC961A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1425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Krish Agrawal</a:t>
            </a:r>
          </a:p>
        </p:txBody>
      </p:sp>
      <p:sp>
        <p:nvSpPr>
          <p:cNvPr id="7" name="cover-affiliation">
            <a:extLst xmlns:a="http://schemas.openxmlformats.org/drawingml/2006/main">
              <a:ext uri="{FF2B5EF4-FFF2-40B4-BE49-F238E27FC236}">
                <a16:creationId xmlns:a16="http://schemas.microsoft.com/office/drawing/2014/main" id="{C5082AFB-C164-49CE-BE24-8DE2FA21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578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C7D5DE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C7D5DE"/>
                </a:solidFill>
                <a:latin typeface="Rubik"/>
                <a:ea typeface="Rubik"/>
                <a:cs typeface="Rubik"/>
              </a:rPr>
              <a:t>BITS 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691251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2">
            <a:extLst xmlns:a="http://schemas.openxmlformats.org/drawingml/2006/main">
              <a:ext uri="{FF2B5EF4-FFF2-40B4-BE49-F238E27FC236}">
                <a16:creationId xmlns:a16="http://schemas.microsoft.com/office/drawing/2014/main" id="{A79279CC-37DE-4DC9-A5E2-D2238AAB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29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Problem and approach</a:t>
            </a:r>
          </a:p>
        </p:txBody>
      </p:sp>
      <p:sp>
        <p:nvSpPr>
          <p:cNvPr id="2" name="top-rule-2">
            <a:extLst xmlns:a="http://schemas.openxmlformats.org/drawingml/2006/main">
              <a:ext uri="{FF2B5EF4-FFF2-40B4-BE49-F238E27FC236}">
                <a16:creationId xmlns:a16="http://schemas.microsoft.com/office/drawing/2014/main" id="{121B40AC-2B4D-4331-9FE5-7F9469AC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1E292066-BCB9-4ED2-A9C3-F6C39889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0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4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41864D12-880C-4A82-BB31-107C21EF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4647"/>
                </a:solidFill>
                <a:latin typeface="Rubik"/>
                <a:ea typeface="Rubik"/>
                <a:cs typeface="Rubik"/>
              </a:defRPr>
            </a:pPr>
            <a:r>
              <a:rPr sz="1950" b="1">
                <a:solidFill>
                  <a:srgbClr val="B64647"/>
                </a:solidFill>
                <a:latin typeface="Rubik"/>
                <a:ea typeface="Rubik"/>
                <a:cs typeface="Rubik"/>
              </a:rPr>
              <a:t>The gap</a:t>
            </a:r>
          </a:p>
        </p:txBody>
      </p:sp>
      <p:sp>
        <p:nvSpPr>
          <p:cNvPr id="5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E0864EB1-544D-433C-A1F8-76739EA9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4577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800" b="0">
                <a:solidFill>
                  <a:srgbClr val="10283D"/>
                </a:solidFill>
                <a:latin typeface="Rubik"/>
                <a:ea typeface="Rubik"/>
                <a:cs typeface="Rubik"/>
              </a:rPr>
              <a:t>Financial news and social posts arrive as unstructured text. Analysts need to identify the event, judge its severity, and connect it to portfolio exposures.</a:t>
            </a:r>
          </a:p>
        </p:txBody>
      </p:sp>
      <p:sp>
        <p:nvSpPr>
          <p:cNvPr id="6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C0AA2B51-730D-4687-B69E-997022B3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2877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C"/>
            </a:solidFill>
            <a:prstDash val="solid"/>
          </a:ln>
        </p:spPr>
      </p:sp>
      <p:sp>
        <p:nvSpPr>
          <p:cNvPr id="7" name="approach-heading">
            <a:extLst xmlns:a="http://schemas.openxmlformats.org/drawingml/2006/main">
              <a:ext uri="{FF2B5EF4-FFF2-40B4-BE49-F238E27FC236}">
                <a16:creationId xmlns:a16="http://schemas.microsoft.com/office/drawing/2014/main" id="{66110748-CD35-4692-866D-DFEC13DC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47825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78"/>
                </a:solidFill>
                <a:latin typeface="Rubik"/>
                <a:ea typeface="Rubik"/>
                <a:cs typeface="Rubik"/>
              </a:defRPr>
            </a:pPr>
            <a:r>
              <a:rPr sz="1950" b="1">
                <a:solidFill>
                  <a:srgbClr val="087F78"/>
                </a:solidFill>
                <a:latin typeface="Rubik"/>
                <a:ea typeface="Rubik"/>
                <a:cs typeface="Rubik"/>
              </a:rPr>
              <a:t>SignalScope</a:t>
            </a:r>
          </a:p>
        </p:txBody>
      </p:sp>
      <p:sp>
        <p:nvSpPr>
          <p:cNvPr id="8" name="approach-0-n">
            <a:extLst xmlns:a="http://schemas.openxmlformats.org/drawingml/2006/main">
              <a:ext uri="{FF2B5EF4-FFF2-40B4-BE49-F238E27FC236}">
                <a16:creationId xmlns:a16="http://schemas.microsoft.com/office/drawing/2014/main" id="{2F87C2A0-3159-44EF-8871-8CB79602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33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78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087F78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  <p:sp>
        <p:nvSpPr>
          <p:cNvPr id="9" name="approach-0-body">
            <a:extLst xmlns:a="http://schemas.openxmlformats.org/drawingml/2006/main">
              <a:ext uri="{FF2B5EF4-FFF2-40B4-BE49-F238E27FC236}">
                <a16:creationId xmlns:a16="http://schemas.microsoft.com/office/drawing/2014/main" id="{64D6ADFC-552A-4A12-A794-3791752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3857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10283D"/>
                </a:solidFill>
                <a:latin typeface="Rubik"/>
                <a:ea typeface="Rubik"/>
                <a:cs typeface="Rubik"/>
              </a:rPr>
              <a:t>Ingest public news and social text</a:t>
            </a:r>
          </a:p>
        </p:txBody>
      </p:sp>
      <p:sp>
        <p:nvSpPr>
          <p:cNvPr id="10" name="approach-1-n">
            <a:extLst xmlns:a="http://schemas.openxmlformats.org/drawingml/2006/main">
              <a:ext uri="{FF2B5EF4-FFF2-40B4-BE49-F238E27FC236}">
                <a16:creationId xmlns:a16="http://schemas.microsoft.com/office/drawing/2014/main" id="{E70DAE24-A2F9-498E-93F0-802DB15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86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78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087F78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11" name="approach-1-body">
            <a:extLst xmlns:a="http://schemas.openxmlformats.org/drawingml/2006/main">
              <a:ext uri="{FF2B5EF4-FFF2-40B4-BE49-F238E27FC236}">
                <a16:creationId xmlns:a16="http://schemas.microsoft.com/office/drawing/2014/main" id="{659C262B-6370-4D49-B724-9C96383C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3857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10283D"/>
                </a:solidFill>
                <a:latin typeface="Rubik"/>
                <a:ea typeface="Rubik"/>
                <a:cs typeface="Rubik"/>
              </a:rPr>
              <a:t>Publish sentiment, event class and impact</a:t>
            </a:r>
          </a:p>
        </p:txBody>
      </p:sp>
      <p:sp>
        <p:nvSpPr>
          <p:cNvPr id="12" name="approach-2-n">
            <a:extLst xmlns:a="http://schemas.openxmlformats.org/drawingml/2006/main">
              <a:ext uri="{FF2B5EF4-FFF2-40B4-BE49-F238E27FC236}">
                <a16:creationId xmlns:a16="http://schemas.microsoft.com/office/drawing/2014/main" id="{123D55A6-B022-4C9B-8446-6AE655F1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38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78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087F78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13" name="approach-2-body">
            <a:extLst xmlns:a="http://schemas.openxmlformats.org/drawingml/2006/main">
              <a:ext uri="{FF2B5EF4-FFF2-40B4-BE49-F238E27FC236}">
                <a16:creationId xmlns:a16="http://schemas.microsoft.com/office/drawing/2014/main" id="{8943AFF2-1540-42BE-9C69-381476F5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3857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10283D"/>
                </a:solidFill>
                <a:latin typeface="Rubik"/>
                <a:ea typeface="Rubik"/>
                <a:cs typeface="Rubik"/>
              </a:rPr>
              <a:t>Stress a synthetic wholesale portfolio</a:t>
            </a:r>
          </a:p>
        </p:txBody>
      </p:sp>
      <p:sp>
        <p:nvSpPr>
          <p:cNvPr id="14" name="problem-bottom-rule">
            <a:extLst xmlns:a="http://schemas.openxmlformats.org/drawingml/2006/main">
              <a:ext uri="{FF2B5EF4-FFF2-40B4-BE49-F238E27FC236}">
                <a16:creationId xmlns:a16="http://schemas.microsoft.com/office/drawing/2014/main" id="{C11187E4-45E5-4FA3-B882-451B115D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772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15" name="problem-output">
            <a:extLst xmlns:a="http://schemas.openxmlformats.org/drawingml/2006/main">
              <a:ext uri="{FF2B5EF4-FFF2-40B4-BE49-F238E27FC236}">
                <a16:creationId xmlns:a16="http://schemas.microsoft.com/office/drawing/2014/main" id="{382FB240-4ABB-48EC-B179-E1606AD0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Output: an inspectable risk signal and an illustrative portfolio loss estimate</a:t>
            </a:r>
          </a:p>
        </p:txBody>
      </p:sp>
    </p:spTree>
    <p:extLst>
      <p:ext uri="{BB962C8B-B14F-4D97-AF65-F5344CB8AC3E}">
        <p14:creationId xmlns:p14="http://schemas.microsoft.com/office/powerpoint/2010/main" val="936335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3">
            <a:extLst xmlns:a="http://schemas.openxmlformats.org/drawingml/2006/main">
              <a:ext uri="{FF2B5EF4-FFF2-40B4-BE49-F238E27FC236}">
                <a16:creationId xmlns:a16="http://schemas.microsoft.com/office/drawing/2014/main" id="{D00B3C54-0FF5-420F-AC29-2D5513FE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29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System design</a:t>
            </a:r>
          </a:p>
        </p:txBody>
      </p:sp>
      <p:sp>
        <p:nvSpPr>
          <p:cNvPr id="2" name="top-rule-3">
            <a:extLst xmlns:a="http://schemas.openxmlformats.org/drawingml/2006/main">
              <a:ext uri="{FF2B5EF4-FFF2-40B4-BE49-F238E27FC236}">
                <a16:creationId xmlns:a16="http://schemas.microsoft.com/office/drawing/2014/main" id="{0814EC9A-4C9B-48C7-B9EB-9FD9139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0D567739-E93F-4B25-9CAB-D8B2F970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0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4" name="architecture-intro">
            <a:extLst xmlns:a="http://schemas.openxmlformats.org/drawingml/2006/main">
              <a:ext uri="{FF2B5EF4-FFF2-40B4-BE49-F238E27FC236}">
                <a16:creationId xmlns:a16="http://schemas.microsoft.com/office/drawing/2014/main" id="{D62B8FAB-6869-4E32-8F80-00D33CCE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GDELT / Google News RSS headlines, Bluesky posts and replay records share one signal contract.</a:t>
            </a:r>
          </a:p>
        </p:txBody>
      </p:sp>
      <p:sp>
        <p:nvSpPr>
          <p:cNvPr id="5" name="architecture-flow">
            <a:extLst xmlns:a="http://schemas.openxmlformats.org/drawingml/2006/main">
              <a:ext uri="{FF2B5EF4-FFF2-40B4-BE49-F238E27FC236}">
                <a16:creationId xmlns:a16="http://schemas.microsoft.com/office/drawing/2014/main" id="{72F86DDE-8DF3-46CA-B73C-A96A6BBB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95625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6DC"/>
            </a:solidFill>
            <a:prstDash val="solid"/>
          </a:ln>
        </p:spPr>
      </p:sp>
      <p:sp>
        <p:nvSpPr>
          <p:cNvPr id="6" name="architecture-stage-0-head">
            <a:extLst xmlns:a="http://schemas.openxmlformats.org/drawingml/2006/main">
              <a:ext uri="{FF2B5EF4-FFF2-40B4-BE49-F238E27FC236}">
                <a16:creationId xmlns:a16="http://schemas.microsoft.com/office/drawing/2014/main" id="{8CCEEA8B-B343-4593-8FF5-2A6376B9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7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Sources</a:t>
            </a:r>
          </a:p>
        </p:txBody>
      </p:sp>
      <p:sp>
        <p:nvSpPr>
          <p:cNvPr id="7" name="architecture-node-0">
            <a:extLst xmlns:a="http://schemas.openxmlformats.org/drawingml/2006/main">
              <a:ext uri="{FF2B5EF4-FFF2-40B4-BE49-F238E27FC236}">
                <a16:creationId xmlns:a16="http://schemas.microsoft.com/office/drawing/2014/main" id="{E652DE66-10DE-4A25-85C2-348D0F45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47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itecture-number-0">
            <a:extLst xmlns:a="http://schemas.openxmlformats.org/drawingml/2006/main">
              <a:ext uri="{FF2B5EF4-FFF2-40B4-BE49-F238E27FC236}">
                <a16:creationId xmlns:a16="http://schemas.microsoft.com/office/drawing/2014/main" id="{18E8082F-471A-4997-A484-4955CBE1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14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9" name="architecture-stage-0-body">
            <a:extLst xmlns:a="http://schemas.openxmlformats.org/drawingml/2006/main">
              <a:ext uri="{FF2B5EF4-FFF2-40B4-BE49-F238E27FC236}">
                <a16:creationId xmlns:a16="http://schemas.microsoft.com/office/drawing/2014/main" id="{FB0CB176-802C-487B-BFBA-5A1F6951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90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News: GDELT / RSS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Bluesky posts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Bundled replay</a:t>
            </a:r>
          </a:p>
        </p:txBody>
      </p:sp>
      <p:sp>
        <p:nvSpPr>
          <p:cNvPr id="10" name="architecture-stage-1-head">
            <a:extLst xmlns:a="http://schemas.openxmlformats.org/drawingml/2006/main">
              <a:ext uri="{FF2B5EF4-FFF2-40B4-BE49-F238E27FC236}">
                <a16:creationId xmlns:a16="http://schemas.microsoft.com/office/drawing/2014/main" id="{CC2AF6F8-0BFA-4088-97FD-D8D733C8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52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7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Ingestion</a:t>
            </a:r>
          </a:p>
        </p:txBody>
      </p:sp>
      <p:sp>
        <p:nvSpPr>
          <p:cNvPr id="11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DD4ADA5A-66D4-4253-A0CA-F612A59E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47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itecture-number-1">
            <a:extLst xmlns:a="http://schemas.openxmlformats.org/drawingml/2006/main">
              <a:ext uri="{FF2B5EF4-FFF2-40B4-BE49-F238E27FC236}">
                <a16:creationId xmlns:a16="http://schemas.microsoft.com/office/drawing/2014/main" id="{BE51201D-429C-4FD6-B336-9FA9AF16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13" name="architecture-stage-1-body">
            <a:extLst xmlns:a="http://schemas.openxmlformats.org/drawingml/2006/main">
              <a:ext uri="{FF2B5EF4-FFF2-40B4-BE49-F238E27FC236}">
                <a16:creationId xmlns:a16="http://schemas.microsoft.com/office/drawing/2014/main" id="{0ADFAB6C-35BF-4653-BD4F-87401FF5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57600"/>
            <a:ext cx="190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Normalize, dedupe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and identify entities</a:t>
            </a:r>
          </a:p>
        </p:txBody>
      </p:sp>
      <p:sp>
        <p:nvSpPr>
          <p:cNvPr id="14" name="architecture-stage-2-head">
            <a:extLst xmlns:a="http://schemas.openxmlformats.org/drawingml/2006/main">
              <a:ext uri="{FF2B5EF4-FFF2-40B4-BE49-F238E27FC236}">
                <a16:creationId xmlns:a16="http://schemas.microsoft.com/office/drawing/2014/main" id="{3275CEAF-8747-4B95-92B6-60FFBE57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152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7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Risk engine</a:t>
            </a:r>
          </a:p>
        </p:txBody>
      </p:sp>
      <p:sp>
        <p:nvSpPr>
          <p:cNvPr id="15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3C4E129E-0171-4F69-98AA-0B9B68D2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47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itecture-number-2">
            <a:extLst xmlns:a="http://schemas.openxmlformats.org/drawingml/2006/main">
              <a:ext uri="{FF2B5EF4-FFF2-40B4-BE49-F238E27FC236}">
                <a16:creationId xmlns:a16="http://schemas.microsoft.com/office/drawing/2014/main" id="{4406A335-5FEB-4E24-B071-5892B8B1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14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7" name="architecture-stage-2-body">
            <a:extLst xmlns:a="http://schemas.openxmlformats.org/drawingml/2006/main">
              <a:ext uri="{FF2B5EF4-FFF2-40B4-BE49-F238E27FC236}">
                <a16:creationId xmlns:a16="http://schemas.microsoft.com/office/drawing/2014/main" id="{1182968D-7936-452C-B9C3-7CF53EA8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57600"/>
            <a:ext cx="190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Lexicon sentiment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Bayes event class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Impact rubric</a:t>
            </a:r>
          </a:p>
        </p:txBody>
      </p:sp>
      <p:sp>
        <p:nvSpPr>
          <p:cNvPr id="18" name="architecture-stage-3-head">
            <a:extLst xmlns:a="http://schemas.openxmlformats.org/drawingml/2006/main">
              <a:ext uri="{FF2B5EF4-FFF2-40B4-BE49-F238E27FC236}">
                <a16:creationId xmlns:a16="http://schemas.microsoft.com/office/drawing/2014/main" id="{927693BB-DFF7-4779-B6EC-6EB86906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7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Signal API</a:t>
            </a:r>
          </a:p>
        </p:txBody>
      </p:sp>
      <p:sp>
        <p:nvSpPr>
          <p:cNvPr id="19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38199BD1-1DC2-4412-A031-D3A772EC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47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itecture-number-3">
            <a:extLst xmlns:a="http://schemas.openxmlformats.org/drawingml/2006/main">
              <a:ext uri="{FF2B5EF4-FFF2-40B4-BE49-F238E27FC236}">
                <a16:creationId xmlns:a16="http://schemas.microsoft.com/office/drawing/2014/main" id="{5EEE7CD1-5D04-4D29-8A30-158557B0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21" name="architecture-stage-3-body">
            <a:extLst xmlns:a="http://schemas.openxmlformats.org/drawingml/2006/main">
              <a:ext uri="{FF2B5EF4-FFF2-40B4-BE49-F238E27FC236}">
                <a16:creationId xmlns:a16="http://schemas.microsoft.com/office/drawing/2014/main" id="{9EA4EED5-05D5-46E6-AD07-EA64DF8D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57600"/>
            <a:ext cx="190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JSON and SQLite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with source evidence</a:t>
            </a:r>
          </a:p>
        </p:txBody>
      </p:sp>
      <p:sp>
        <p:nvSpPr>
          <p:cNvPr id="22" name="architecture-stage-4-head">
            <a:extLst xmlns:a="http://schemas.openxmlformats.org/drawingml/2006/main">
              <a:ext uri="{FF2B5EF4-FFF2-40B4-BE49-F238E27FC236}">
                <a16:creationId xmlns:a16="http://schemas.microsoft.com/office/drawing/2014/main" id="{62A4CF1E-8446-4ADE-B014-1B64B8A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52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7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Module B</a:t>
            </a:r>
          </a:p>
        </p:txBody>
      </p:sp>
      <p:sp>
        <p:nvSpPr>
          <p:cNvPr id="23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3289F0B7-9C04-427B-89AD-F4E435C3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47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itecture-number-4">
            <a:extLst xmlns:a="http://schemas.openxmlformats.org/drawingml/2006/main">
              <a:ext uri="{FF2B5EF4-FFF2-40B4-BE49-F238E27FC236}">
                <a16:creationId xmlns:a16="http://schemas.microsoft.com/office/drawing/2014/main" id="{9F5F0CC3-5EF0-467B-B5A5-FB0AB9E1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14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25" name="architecture-stage-4-body">
            <a:extLst xmlns:a="http://schemas.openxmlformats.org/drawingml/2006/main">
              <a:ext uri="{FF2B5EF4-FFF2-40B4-BE49-F238E27FC236}">
                <a16:creationId xmlns:a16="http://schemas.microsoft.com/office/drawing/2014/main" id="{C89201DA-020D-4133-89C9-F2EDE154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190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Event shocks and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portfolio valuation</a:t>
            </a:r>
          </a:p>
        </p:txBody>
      </p:sp>
      <p:sp>
        <p:nvSpPr>
          <p:cNvPr id="26" name="architecture-outcome-rule">
            <a:extLst xmlns:a="http://schemas.openxmlformats.org/drawingml/2006/main">
              <a:ext uri="{FF2B5EF4-FFF2-40B4-BE49-F238E27FC236}">
                <a16:creationId xmlns:a16="http://schemas.microsoft.com/office/drawing/2014/main" id="{4C0B0C9E-F7BB-44E1-B445-A99723C5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72075"/>
            <a:ext cx="870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E6DF"/>
            </a:solidFill>
            <a:prstDash val="solid"/>
          </a:ln>
        </p:spPr>
      </p:sp>
      <p:sp>
        <p:nvSpPr>
          <p:cNvPr id="27" name="architecture-outcome">
            <a:extLst xmlns:a="http://schemas.openxmlformats.org/drawingml/2006/main">
              <a:ext uri="{FF2B5EF4-FFF2-40B4-BE49-F238E27FC236}">
                <a16:creationId xmlns:a16="http://schemas.microsoft.com/office/drawing/2014/main" id="{0FC0C789-5E6F-40AA-A6BF-EC9400E3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62575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78"/>
                </a:solidFill>
                <a:latin typeface="Rubik"/>
                <a:ea typeface="Rubik"/>
                <a:cs typeface="Rubik"/>
              </a:defRPr>
            </a:pPr>
            <a:r>
              <a:rPr sz="1725" b="1">
                <a:solidFill>
                  <a:srgbClr val="087F78"/>
                </a:solidFill>
                <a:latin typeface="Rubik"/>
                <a:ea typeface="Rubik"/>
                <a:cs typeface="Rubik"/>
              </a:rPr>
              <a:t>One risk signal links a source item to a repeatable stress view</a:t>
            </a:r>
          </a:p>
        </p:txBody>
      </p:sp>
    </p:spTree>
    <p:extLst>
      <p:ext uri="{BB962C8B-B14F-4D97-AF65-F5344CB8AC3E}">
        <p14:creationId xmlns:p14="http://schemas.microsoft.com/office/powerpoint/2010/main" val="26322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4">
            <a:extLst xmlns:a="http://schemas.openxmlformats.org/drawingml/2006/main">
              <a:ext uri="{FF2B5EF4-FFF2-40B4-BE49-F238E27FC236}">
                <a16:creationId xmlns:a16="http://schemas.microsoft.com/office/drawing/2014/main" id="{EA79B5F7-14EA-4C9B-A56B-AF69C2FF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29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NLP scoring and stress mechanics</a:t>
            </a:r>
          </a:p>
        </p:txBody>
      </p:sp>
      <p:sp>
        <p:nvSpPr>
          <p:cNvPr id="2" name="top-rule-4">
            <a:extLst xmlns:a="http://schemas.openxmlformats.org/drawingml/2006/main">
              <a:ext uri="{FF2B5EF4-FFF2-40B4-BE49-F238E27FC236}">
                <a16:creationId xmlns:a16="http://schemas.microsoft.com/office/drawing/2014/main" id="{C9C4BD5D-DCF3-49FA-9106-2CF2F6A9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033E63CF-9384-47A2-84E2-0CE683D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0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04</a:t>
            </a:r>
          </a:p>
        </p:txBody>
      </p:sp>
      <p:sp>
        <p:nvSpPr>
          <p:cNvPr id="4" name="engine-heading">
            <a:extLst xmlns:a="http://schemas.openxmlformats.org/drawingml/2006/main">
              <a:ext uri="{FF2B5EF4-FFF2-40B4-BE49-F238E27FC236}">
                <a16:creationId xmlns:a16="http://schemas.microsoft.com/office/drawing/2014/main" id="{46487556-93C0-4F26-A603-7FFACF63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Rubik"/>
                <a:ea typeface="Rubik"/>
                <a:cs typeface="Rubik"/>
              </a:defRPr>
            </a:pPr>
            <a:r>
              <a:rPr sz="2025" b="1">
                <a:solidFill>
                  <a:srgbClr val="087F78"/>
                </a:solidFill>
                <a:latin typeface="Rubik"/>
                <a:ea typeface="Rubik"/>
                <a:cs typeface="Rubik"/>
              </a:rPr>
              <a:t>AI/NLP risk engine</a:t>
            </a:r>
          </a:p>
        </p:txBody>
      </p:sp>
      <p:sp>
        <p:nvSpPr>
          <p:cNvPr id="5" name="stress-heading">
            <a:extLst xmlns:a="http://schemas.openxmlformats.org/drawingml/2006/main">
              <a:ext uri="{FF2B5EF4-FFF2-40B4-BE49-F238E27FC236}">
                <a16:creationId xmlns:a16="http://schemas.microsoft.com/office/drawing/2014/main" id="{89896B84-2C95-47CE-8158-5C43774E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3830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Rubik"/>
                <a:ea typeface="Rubik"/>
                <a:cs typeface="Rubik"/>
              </a:defRPr>
            </a:pPr>
            <a:r>
              <a:rPr sz="2025" b="1">
                <a:solidFill>
                  <a:srgbClr val="087F78"/>
                </a:solidFill>
                <a:latin typeface="Rubik"/>
                <a:ea typeface="Rubik"/>
                <a:cs typeface="Rubik"/>
              </a:rPr>
              <a:t>Portfolio stress model</a:t>
            </a:r>
          </a:p>
        </p:txBody>
      </p:sp>
      <p:sp>
        <p:nvSpPr>
          <p:cNvPr id="6" name="implementation-divider">
            <a:extLst xmlns:a="http://schemas.openxmlformats.org/drawingml/2006/main">
              <a:ext uri="{FF2B5EF4-FFF2-40B4-BE49-F238E27FC236}">
                <a16:creationId xmlns:a16="http://schemas.microsoft.com/office/drawing/2014/main" id="{1CEB673B-C86C-4E6E-8AFC-E818DD9B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9725"/>
            <a:ext cx="0" cy="404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C"/>
            </a:solidFill>
            <a:prstDash val="solid"/>
          </a:ln>
        </p:spPr>
      </p:sp>
      <p:sp>
        <p:nvSpPr>
          <p:cNvPr id="7" name="engine-key-0">
            <a:extLst xmlns:a="http://schemas.openxmlformats.org/drawingml/2006/main">
              <a:ext uri="{FF2B5EF4-FFF2-40B4-BE49-F238E27FC236}">
                <a16:creationId xmlns:a16="http://schemas.microsoft.com/office/drawing/2014/main" id="{D1F80DA3-6292-4A36-9EC6-63677750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409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4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Sentiment</a:t>
            </a:r>
          </a:p>
        </p:txBody>
      </p:sp>
      <p:sp>
        <p:nvSpPr>
          <p:cNvPr id="8" name="engine-desc-0">
            <a:extLst xmlns:a="http://schemas.openxmlformats.org/drawingml/2006/main">
              <a:ext uri="{FF2B5EF4-FFF2-40B4-BE49-F238E27FC236}">
                <a16:creationId xmlns:a16="http://schemas.microsoft.com/office/drawing/2014/main" id="{A5C0887C-AA5E-4853-BEFD-CA4D8FE5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86000"/>
            <a:ext cx="334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Finance lexicon with negation, bounded from -1 to +1</a:t>
            </a:r>
          </a:p>
        </p:txBody>
      </p:sp>
      <p:sp>
        <p:nvSpPr>
          <p:cNvPr id="9" name="stress-key-0">
            <a:extLst xmlns:a="http://schemas.openxmlformats.org/drawingml/2006/main">
              <a:ext uri="{FF2B5EF4-FFF2-40B4-BE49-F238E27FC236}">
                <a16:creationId xmlns:a16="http://schemas.microsoft.com/office/drawing/2014/main" id="{3F97138B-3DC2-44E1-9AD4-01BADC38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132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4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Trigger</a:t>
            </a:r>
          </a:p>
        </p:txBody>
      </p:sp>
      <p:sp>
        <p:nvSpPr>
          <p:cNvPr id="10" name="stress-desc-0">
            <a:extLst xmlns:a="http://schemas.openxmlformats.org/drawingml/2006/main">
              <a:ext uri="{FF2B5EF4-FFF2-40B4-BE49-F238E27FC236}">
                <a16:creationId xmlns:a16="http://schemas.microsoft.com/office/drawing/2014/main" id="{C4824131-EA06-4A93-9117-58EE7F7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8600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A high-impact signal (score &gt;7) selects an event shock vector</a:t>
            </a:r>
          </a:p>
        </p:txBody>
      </p:sp>
      <p:sp>
        <p:nvSpPr>
          <p:cNvPr id="11" name="engine-key-1">
            <a:extLst xmlns:a="http://schemas.openxmlformats.org/drawingml/2006/main">
              <a:ext uri="{FF2B5EF4-FFF2-40B4-BE49-F238E27FC236}">
                <a16:creationId xmlns:a16="http://schemas.microsoft.com/office/drawing/2014/main" id="{8D4F736B-D229-4E5E-98E2-1706B9F4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409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4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Event</a:t>
            </a:r>
          </a:p>
        </p:txBody>
      </p:sp>
      <p:sp>
        <p:nvSpPr>
          <p:cNvPr id="12" name="engine-desc-1">
            <a:extLst xmlns:a="http://schemas.openxmlformats.org/drawingml/2006/main">
              <a:ext uri="{FF2B5EF4-FFF2-40B4-BE49-F238E27FC236}">
                <a16:creationId xmlns:a16="http://schemas.microsoft.com/office/drawing/2014/main" id="{88EE8BA7-51A9-4BD4-866D-D6417CE1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67075"/>
            <a:ext cx="334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Multinomial Naive Bayes on curated phrases, with domain cues</a:t>
            </a:r>
          </a:p>
        </p:txBody>
      </p:sp>
      <p:sp>
        <p:nvSpPr>
          <p:cNvPr id="13" name="stress-key-1">
            <a:extLst xmlns:a="http://schemas.openxmlformats.org/drawingml/2006/main">
              <a:ext uri="{FF2B5EF4-FFF2-40B4-BE49-F238E27FC236}">
                <a16:creationId xmlns:a16="http://schemas.microsoft.com/office/drawing/2014/main" id="{35024903-9C3C-48E8-9E28-DBCAB7B3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132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4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Portfolio</a:t>
            </a:r>
          </a:p>
        </p:txBody>
      </p:sp>
      <p:sp>
        <p:nvSpPr>
          <p:cNvPr id="14" name="stress-desc-1">
            <a:extLst xmlns:a="http://schemas.openxmlformats.org/drawingml/2006/main">
              <a:ext uri="{FF2B5EF4-FFF2-40B4-BE49-F238E27FC236}">
                <a16:creationId xmlns:a16="http://schemas.microsoft.com/office/drawing/2014/main" id="{BE7E75F5-5D5A-43F5-B262-169B6DC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67075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12 synthetic positions: 5 loans, 4 bonds, 3 derivatives</a:t>
            </a:r>
          </a:p>
        </p:txBody>
      </p:sp>
      <p:sp>
        <p:nvSpPr>
          <p:cNvPr id="15" name="engine-key-2">
            <a:extLst xmlns:a="http://schemas.openxmlformats.org/drawingml/2006/main">
              <a:ext uri="{FF2B5EF4-FFF2-40B4-BE49-F238E27FC236}">
                <a16:creationId xmlns:a16="http://schemas.microsoft.com/office/drawing/2014/main" id="{88DF7471-FD00-4F7E-8960-F3ABBE7E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409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4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Impact</a:t>
            </a:r>
          </a:p>
        </p:txBody>
      </p:sp>
      <p:sp>
        <p:nvSpPr>
          <p:cNvPr id="16" name="engine-desc-2">
            <a:extLst xmlns:a="http://schemas.openxmlformats.org/drawingml/2006/main">
              <a:ext uri="{FF2B5EF4-FFF2-40B4-BE49-F238E27FC236}">
                <a16:creationId xmlns:a16="http://schemas.microsoft.com/office/drawing/2014/main" id="{36BC514A-8D11-4928-A8C7-8550F73E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48150"/>
            <a:ext cx="3343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Ordinal 1–10 rubric from event class and severity language</a:t>
            </a:r>
          </a:p>
        </p:txBody>
      </p:sp>
      <p:sp>
        <p:nvSpPr>
          <p:cNvPr id="17" name="stress-key-2">
            <a:extLst xmlns:a="http://schemas.openxmlformats.org/drawingml/2006/main">
              <a:ext uri="{FF2B5EF4-FFF2-40B4-BE49-F238E27FC236}">
                <a16:creationId xmlns:a16="http://schemas.microsoft.com/office/drawing/2014/main" id="{7002DDB9-8326-4E09-9DC7-49D88310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132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4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Valuation</a:t>
            </a:r>
          </a:p>
        </p:txBody>
      </p:sp>
      <p:sp>
        <p:nvSpPr>
          <p:cNvPr id="18" name="stress-desc-2">
            <a:extLst xmlns:a="http://schemas.openxmlformats.org/drawingml/2006/main">
              <a:ext uri="{FF2B5EF4-FFF2-40B4-BE49-F238E27FC236}">
                <a16:creationId xmlns:a16="http://schemas.microsoft.com/office/drawing/2014/main" id="{C62CF1EE-E066-4F18-BAB4-3941184F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24815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Duration approximations and signed delta/PV01 sensitivities</a:t>
            </a:r>
          </a:p>
        </p:txBody>
      </p:sp>
      <p:sp>
        <p:nvSpPr>
          <p:cNvPr id="19" name="implementation-bottom-rule">
            <a:extLst xmlns:a="http://schemas.openxmlformats.org/drawingml/2006/main">
              <a:ext uri="{FF2B5EF4-FFF2-40B4-BE49-F238E27FC236}">
                <a16:creationId xmlns:a16="http://schemas.microsoft.com/office/drawing/2014/main" id="{724CF56F-C380-4B20-A403-EECD5776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530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20" name="implementation-assumptions">
            <a:extLst xmlns:a="http://schemas.openxmlformats.org/drawingml/2006/main">
              <a:ext uri="{FF2B5EF4-FFF2-40B4-BE49-F238E27FC236}">
                <a16:creationId xmlns:a16="http://schemas.microsoft.com/office/drawing/2014/main" id="{3BFF071E-E290-4867-8144-80666172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10283D"/>
                </a:solidFill>
                <a:latin typeface="Rubik"/>
                <a:ea typeface="Rubik"/>
                <a:cs typeface="Rubik"/>
              </a:rPr>
              <a:t>Simulated credit stress: rates +20 bp, broad spreads +55 bp, Industrials spread +140 bp, Aster haircut 25%.</a:t>
            </a:r>
          </a:p>
        </p:txBody>
      </p:sp>
    </p:spTree>
    <p:extLst>
      <p:ext uri="{BB962C8B-B14F-4D97-AF65-F5344CB8AC3E}">
        <p14:creationId xmlns:p14="http://schemas.microsoft.com/office/powerpoint/2010/main" val="1975262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5">
            <a:extLst xmlns:a="http://schemas.openxmlformats.org/drawingml/2006/main">
              <a:ext uri="{FF2B5EF4-FFF2-40B4-BE49-F238E27FC236}">
                <a16:creationId xmlns:a16="http://schemas.microsoft.com/office/drawing/2014/main" id="{ACC56077-83EF-4390-B139-5D97FFEE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29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Credit event stress result</a:t>
            </a:r>
          </a:p>
        </p:txBody>
      </p:sp>
      <p:sp>
        <p:nvSpPr>
          <p:cNvPr id="2" name="top-rule-5">
            <a:extLst xmlns:a="http://schemas.openxmlformats.org/drawingml/2006/main">
              <a:ext uri="{FF2B5EF4-FFF2-40B4-BE49-F238E27FC236}">
                <a16:creationId xmlns:a16="http://schemas.microsoft.com/office/drawing/2014/main" id="{A37DB97C-970F-4B6C-8865-8C8E40A3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77ADAF2B-FE79-4E84-BF6F-0F1D1BD3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0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05</a:t>
            </a:r>
          </a:p>
        </p:txBody>
      </p:sp>
      <p:sp>
        <p:nvSpPr>
          <p:cNvPr id="4" name="result-event">
            <a:extLst xmlns:a="http://schemas.openxmlformats.org/drawingml/2006/main">
              <a:ext uri="{FF2B5EF4-FFF2-40B4-BE49-F238E27FC236}">
                <a16:creationId xmlns:a16="http://schemas.microsoft.com/office/drawing/2014/main" id="{5C2FB71D-1050-4789-A364-EB1C8D08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F78"/>
                </a:solidFill>
                <a:latin typeface="Rubik"/>
                <a:ea typeface="Rubik"/>
                <a:cs typeface="Rubik"/>
              </a:defRPr>
            </a:pPr>
            <a:r>
              <a:rPr sz="1725" b="1">
                <a:solidFill>
                  <a:srgbClr val="087F78"/>
                </a:solidFill>
                <a:latin typeface="Rubik"/>
                <a:ea typeface="Rubik"/>
                <a:cs typeface="Rubik"/>
              </a:rPr>
              <a:t>Signal: Credit Event, impact 10/10, sentiment -0.990</a:t>
            </a:r>
          </a:p>
        </p:txBody>
      </p:sp>
      <p:sp>
        <p:nvSpPr>
          <p:cNvPr id="5" name="result-source">
            <a:extLst xmlns:a="http://schemas.openxmlformats.org/drawingml/2006/main">
              <a:ext uri="{FF2B5EF4-FFF2-40B4-BE49-F238E27FC236}">
                <a16:creationId xmlns:a16="http://schemas.microsoft.com/office/drawing/2014/main" id="{41FED9AD-676B-4E71-A5BD-7793E484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Bundled simulated headline: Aster Manufacturing misses bond coupon and warns of default.</a:t>
            </a:r>
          </a:p>
        </p:txBody>
      </p:sp>
      <p:sp>
        <p:nvSpPr>
          <p:cNvPr id="6" name="result-label-0">
            <a:extLst xmlns:a="http://schemas.openxmlformats.org/drawingml/2006/main">
              <a:ext uri="{FF2B5EF4-FFF2-40B4-BE49-F238E27FC236}">
                <a16:creationId xmlns:a16="http://schemas.microsoft.com/office/drawing/2014/main" id="{025C09C4-12CE-45DF-9466-E8067A8D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Before stress</a:t>
            </a:r>
          </a:p>
        </p:txBody>
      </p:sp>
      <p:sp>
        <p:nvSpPr>
          <p:cNvPr id="7" name="result-value-0">
            <a:extLst xmlns:a="http://schemas.openxmlformats.org/drawingml/2006/main">
              <a:ext uri="{FF2B5EF4-FFF2-40B4-BE49-F238E27FC236}">
                <a16:creationId xmlns:a16="http://schemas.microsoft.com/office/drawing/2014/main" id="{95670BF7-EFCE-428E-BA38-4D38ACE8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319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3450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$797.00m</a:t>
            </a:r>
          </a:p>
        </p:txBody>
      </p:sp>
      <p:sp>
        <p:nvSpPr>
          <p:cNvPr id="8" name="result-metric-divider-0">
            <a:extLst xmlns:a="http://schemas.openxmlformats.org/drawingml/2006/main">
              <a:ext uri="{FF2B5EF4-FFF2-40B4-BE49-F238E27FC236}">
                <a16:creationId xmlns:a16="http://schemas.microsoft.com/office/drawing/2014/main" id="{9FC1E64A-02F4-4542-AD3D-4BE2250C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9" name="result-label-1">
            <a:extLst xmlns:a="http://schemas.openxmlformats.org/drawingml/2006/main">
              <a:ext uri="{FF2B5EF4-FFF2-40B4-BE49-F238E27FC236}">
                <a16:creationId xmlns:a16="http://schemas.microsoft.com/office/drawing/2014/main" id="{5317D047-1603-4008-86EC-B63F74DD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336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After stress</a:t>
            </a:r>
          </a:p>
        </p:txBody>
      </p:sp>
      <p:sp>
        <p:nvSpPr>
          <p:cNvPr id="10" name="result-value-1">
            <a:extLst xmlns:a="http://schemas.openxmlformats.org/drawingml/2006/main">
              <a:ext uri="{FF2B5EF4-FFF2-40B4-BE49-F238E27FC236}">
                <a16:creationId xmlns:a16="http://schemas.microsoft.com/office/drawing/2014/main" id="{30A840A9-ADE3-4C8E-865D-884F41C3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57525"/>
            <a:ext cx="319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3450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$739.04m</a:t>
            </a:r>
          </a:p>
        </p:txBody>
      </p:sp>
      <p:sp>
        <p:nvSpPr>
          <p:cNvPr id="11" name="result-metric-divider-1">
            <a:extLst xmlns:a="http://schemas.openxmlformats.org/drawingml/2006/main">
              <a:ext uri="{FF2B5EF4-FFF2-40B4-BE49-F238E27FC236}">
                <a16:creationId xmlns:a16="http://schemas.microsoft.com/office/drawing/2014/main" id="{82E47899-4B39-4D61-BE9B-1F34343B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14625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12" name="result-label-2">
            <a:extLst xmlns:a="http://schemas.openxmlformats.org/drawingml/2006/main">
              <a:ext uri="{FF2B5EF4-FFF2-40B4-BE49-F238E27FC236}">
                <a16:creationId xmlns:a16="http://schemas.microsoft.com/office/drawing/2014/main" id="{32B41C17-7795-4426-A9DE-61349208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336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Scenario loss</a:t>
            </a:r>
          </a:p>
        </p:txBody>
      </p:sp>
      <p:sp>
        <p:nvSpPr>
          <p:cNvPr id="13" name="result-value-2">
            <a:extLst xmlns:a="http://schemas.openxmlformats.org/drawingml/2006/main">
              <a:ext uri="{FF2B5EF4-FFF2-40B4-BE49-F238E27FC236}">
                <a16:creationId xmlns:a16="http://schemas.microsoft.com/office/drawing/2014/main" id="{37C4C3FD-9CED-401D-9D9A-F0EE5E07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57525"/>
            <a:ext cx="319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64647"/>
                </a:solidFill>
                <a:latin typeface="Rubik"/>
                <a:ea typeface="Rubik"/>
                <a:cs typeface="Rubik"/>
              </a:defRPr>
            </a:pPr>
            <a:r>
              <a:rPr sz="3450" b="1">
                <a:solidFill>
                  <a:srgbClr val="B64647"/>
                </a:solidFill>
                <a:latin typeface="Rubik"/>
                <a:ea typeface="Rubik"/>
                <a:cs typeface="Rubik"/>
              </a:rPr>
              <a:t>$57.96m</a:t>
            </a:r>
          </a:p>
        </p:txBody>
      </p:sp>
      <p:sp>
        <p:nvSpPr>
          <p:cNvPr id="14" name="result-loss-pct">
            <a:extLst xmlns:a="http://schemas.openxmlformats.org/drawingml/2006/main">
              <a:ext uri="{FF2B5EF4-FFF2-40B4-BE49-F238E27FC236}">
                <a16:creationId xmlns:a16="http://schemas.microsoft.com/office/drawing/2014/main" id="{F4491038-0463-4657-9CDD-9A6632C8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275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7.27% of starting value</a:t>
            </a:r>
          </a:p>
        </p:txBody>
      </p:sp>
      <p:sp>
        <p:nvSpPr>
          <p:cNvPr id="15" name="result-chart-rule">
            <a:extLst xmlns:a="http://schemas.openxmlformats.org/drawingml/2006/main">
              <a:ext uri="{FF2B5EF4-FFF2-40B4-BE49-F238E27FC236}">
                <a16:creationId xmlns:a16="http://schemas.microsoft.com/office/drawing/2014/main" id="{347C50E5-6E0F-49D3-B118-CCF02A7D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16" name="result-chart-label">
            <a:extLst xmlns:a="http://schemas.openxmlformats.org/drawingml/2006/main">
              <a:ext uri="{FF2B5EF4-FFF2-40B4-BE49-F238E27FC236}">
                <a16:creationId xmlns:a16="http://schemas.microsoft.com/office/drawing/2014/main" id="{8CD256A8-6A82-4366-BBD7-D68D29BF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650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Loss contribution by asset class (USD m)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1409700" y="4533900"/>
          <a:ext xmlns:a="http://schemas.openxmlformats.org/drawingml/2006/main" cx="885825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2f476bc4a8463c"/>
          </a:graphicData>
        </a:graphic>
      </p:graphicFrame>
      <p:sp>
        <p:nvSpPr>
          <p:cNvPr id="18" name="result-footnote">
            <a:extLst xmlns:a="http://schemas.openxmlformats.org/drawingml/2006/main">
              <a:ext uri="{FF2B5EF4-FFF2-40B4-BE49-F238E27FC236}">
                <a16:creationId xmlns:a16="http://schemas.microsoft.com/office/drawing/2014/main" id="{56F652E8-260F-41F8-8679-2B241DD0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7477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0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Simulated USD m. Synthetic positions and illustrative scenario shocks.</a:t>
            </a:r>
          </a:p>
        </p:txBody>
      </p:sp>
    </p:spTree>
    <p:extLst>
      <p:ext uri="{BB962C8B-B14F-4D97-AF65-F5344CB8AC3E}">
        <p14:creationId xmlns:p14="http://schemas.microsoft.com/office/powerpoint/2010/main" val="1944371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58BBC8A1-F5E8-47AD-A3AD-FDD7494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2925" b="1">
                <a:solidFill>
                  <a:srgbClr val="10283D"/>
                </a:solidFill>
                <a:latin typeface="Rubik"/>
                <a:ea typeface="Rubik"/>
                <a:cs typeface="Rubik"/>
              </a:rPr>
              <a:t>Domain impact and next steps</a:t>
            </a:r>
          </a:p>
        </p:txBody>
      </p:sp>
      <p:sp>
        <p:nvSpPr>
          <p:cNvPr id="2" name="top-rule-6">
            <a:extLst xmlns:a="http://schemas.openxmlformats.org/drawingml/2006/main">
              <a:ext uri="{FF2B5EF4-FFF2-40B4-BE49-F238E27FC236}">
                <a16:creationId xmlns:a16="http://schemas.microsoft.com/office/drawing/2014/main" id="{93181DA9-BB62-48F4-85C9-21432018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3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10FDF92C-9750-4684-A5BF-9238D38A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0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06</a:t>
            </a:r>
          </a:p>
        </p:txBody>
      </p:sp>
      <p:sp>
        <p:nvSpPr>
          <p:cNvPr id="4" name="impact-heading">
            <a:extLst xmlns:a="http://schemas.openxmlformats.org/drawingml/2006/main">
              <a:ext uri="{FF2B5EF4-FFF2-40B4-BE49-F238E27FC236}">
                <a16:creationId xmlns:a16="http://schemas.microsoft.com/office/drawing/2014/main" id="{2267AB57-B43A-40C5-AC40-9BF64BEF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4943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Rubik"/>
                <a:ea typeface="Rubik"/>
                <a:cs typeface="Rubik"/>
              </a:defRPr>
            </a:pPr>
            <a:r>
              <a:rPr sz="2025" b="1">
                <a:solidFill>
                  <a:srgbClr val="087F78"/>
                </a:solidFill>
                <a:latin typeface="Rubik"/>
                <a:ea typeface="Rubik"/>
                <a:cs typeface="Rubik"/>
              </a:rPr>
              <a:t>A first-pass risk view</a:t>
            </a:r>
          </a:p>
        </p:txBody>
      </p:sp>
      <p:sp>
        <p:nvSpPr>
          <p:cNvPr id="5" name="impact-copy">
            <a:extLst xmlns:a="http://schemas.openxmlformats.org/drawingml/2006/main">
              <a:ext uri="{FF2B5EF4-FFF2-40B4-BE49-F238E27FC236}">
                <a16:creationId xmlns:a16="http://schemas.microsoft.com/office/drawing/2014/main" id="{D0BE657C-9230-424F-92B5-CD25E312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469582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10283D"/>
                </a:solidFill>
                <a:latin typeface="Rubik"/>
                <a:ea typeface="Rubik"/>
                <a:cs typeface="Rubik"/>
              </a:rPr>
              <a:t>One event record gives analysts the source text, a structured severity signal, and an illustrative change in portfolio value.</a:t>
            </a:r>
          </a:p>
        </p:txBody>
      </p:sp>
      <p:sp>
        <p:nvSpPr>
          <p:cNvPr id="6" name="impact-use">
            <a:extLst xmlns:a="http://schemas.openxmlformats.org/drawingml/2006/main">
              <a:ext uri="{FF2B5EF4-FFF2-40B4-BE49-F238E27FC236}">
                <a16:creationId xmlns:a16="http://schemas.microsoft.com/office/drawing/2014/main" id="{1298F568-1ACD-473A-AAF7-33BEA41D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3825"/>
            <a:ext cx="46958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Risk teams can prioritize review and see which asset class drives the scenario loss.</a:t>
            </a:r>
          </a:p>
        </p:txBody>
      </p:sp>
      <p:sp>
        <p:nvSpPr>
          <p:cNvPr id="7" name="impact-divider">
            <a:extLst xmlns:a="http://schemas.openxmlformats.org/drawingml/2006/main">
              <a:ext uri="{FF2B5EF4-FFF2-40B4-BE49-F238E27FC236}">
                <a16:creationId xmlns:a16="http://schemas.microsoft.com/office/drawing/2014/main" id="{8F37ABF2-E92B-4E3E-A8FE-36947FE4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28775"/>
            <a:ext cx="0" cy="381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C"/>
            </a:solidFill>
            <a:prstDash val="solid"/>
          </a:ln>
        </p:spPr>
      </p:sp>
      <p:sp>
        <p:nvSpPr>
          <p:cNvPr id="8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D4E3030A-DCF5-41E0-A2AF-994F0CF6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3830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64647"/>
                </a:solidFill>
                <a:latin typeface="Rubik"/>
                <a:ea typeface="Rubik"/>
                <a:cs typeface="Rubik"/>
              </a:defRPr>
            </a:pPr>
            <a:r>
              <a:rPr sz="2025" b="1">
                <a:solidFill>
                  <a:srgbClr val="B64647"/>
                </a:solidFill>
                <a:latin typeface="Rubik"/>
                <a:ea typeface="Rubik"/>
                <a:cs typeface="Rubik"/>
              </a:rPr>
              <a:t>Challenges to validate</a:t>
            </a:r>
          </a:p>
        </p:txBody>
      </p:sp>
      <p:sp>
        <p:nvSpPr>
          <p:cNvPr id="9" name="limit-index-0">
            <a:extLst xmlns:a="http://schemas.openxmlformats.org/drawingml/2006/main">
              <a:ext uri="{FF2B5EF4-FFF2-40B4-BE49-F238E27FC236}">
                <a16:creationId xmlns:a16="http://schemas.microsoft.com/office/drawing/2014/main" id="{013668A9-F193-4265-AC06-AB885DE1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526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4647"/>
                </a:solidFill>
                <a:latin typeface="Rubik"/>
                <a:ea typeface="Rubik"/>
                <a:cs typeface="Rubik"/>
              </a:defRPr>
            </a:pPr>
            <a:r>
              <a:rPr sz="1350" b="1">
                <a:solidFill>
                  <a:srgbClr val="B64647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  <p:sp>
        <p:nvSpPr>
          <p:cNvPr id="10" name="limit-text-0">
            <a:extLst xmlns:a="http://schemas.openxmlformats.org/drawingml/2006/main">
              <a:ext uri="{FF2B5EF4-FFF2-40B4-BE49-F238E27FC236}">
                <a16:creationId xmlns:a16="http://schemas.microsoft.com/office/drawing/2014/main" id="{EA76E684-44DF-4CB4-A4CF-696F91C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4229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10283D"/>
                </a:solidFill>
                <a:latin typeface="Rubik"/>
                <a:ea typeface="Rubik"/>
                <a:cs typeface="Rubik"/>
              </a:rPr>
              <a:t>Public feeds vary in coverage and credibility.</a:t>
            </a:r>
          </a:p>
        </p:txBody>
      </p:sp>
      <p:sp>
        <p:nvSpPr>
          <p:cNvPr id="11" name="limit-index-1">
            <a:extLst xmlns:a="http://schemas.openxmlformats.org/drawingml/2006/main">
              <a:ext uri="{FF2B5EF4-FFF2-40B4-BE49-F238E27FC236}">
                <a16:creationId xmlns:a16="http://schemas.microsoft.com/office/drawing/2014/main" id="{1B6F4EC8-7F2B-4551-AF77-4916DD0C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38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4647"/>
                </a:solidFill>
                <a:latin typeface="Rubik"/>
                <a:ea typeface="Rubik"/>
                <a:cs typeface="Rubik"/>
              </a:defRPr>
            </a:pPr>
            <a:r>
              <a:rPr sz="1350" b="1">
                <a:solidFill>
                  <a:srgbClr val="B64647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12" name="limit-text-1">
            <a:extLst xmlns:a="http://schemas.openxmlformats.org/drawingml/2006/main">
              <a:ext uri="{FF2B5EF4-FFF2-40B4-BE49-F238E27FC236}">
                <a16:creationId xmlns:a16="http://schemas.microsoft.com/office/drawing/2014/main" id="{12C3BCAA-6229-48A4-9FC7-206F9DC8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19450"/>
            <a:ext cx="4229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10283D"/>
                </a:solidFill>
                <a:latin typeface="Rubik"/>
                <a:ea typeface="Rubik"/>
                <a:cs typeface="Rubik"/>
              </a:rPr>
              <a:t>Text scores need evaluation on labeled finance data.</a:t>
            </a:r>
          </a:p>
        </p:txBody>
      </p:sp>
      <p:sp>
        <p:nvSpPr>
          <p:cNvPr id="13" name="limit-index-2">
            <a:extLst xmlns:a="http://schemas.openxmlformats.org/drawingml/2006/main">
              <a:ext uri="{FF2B5EF4-FFF2-40B4-BE49-F238E27FC236}">
                <a16:creationId xmlns:a16="http://schemas.microsoft.com/office/drawing/2014/main" id="{4A230DF1-6CA6-4469-BD29-A93342DB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24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4647"/>
                </a:solidFill>
                <a:latin typeface="Rubik"/>
                <a:ea typeface="Rubik"/>
                <a:cs typeface="Rubik"/>
              </a:defRPr>
            </a:pPr>
            <a:r>
              <a:rPr sz="1350" b="1">
                <a:solidFill>
                  <a:srgbClr val="B64647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14" name="limit-text-2">
            <a:extLst xmlns:a="http://schemas.openxmlformats.org/drawingml/2006/main">
              <a:ext uri="{FF2B5EF4-FFF2-40B4-BE49-F238E27FC236}">
                <a16:creationId xmlns:a16="http://schemas.microsoft.com/office/drawing/2014/main" id="{D0A73213-9A2E-46FD-B690-D619BA8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05275"/>
            <a:ext cx="4229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83D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10283D"/>
                </a:solidFill>
                <a:latin typeface="Rubik"/>
                <a:ea typeface="Rubik"/>
                <a:cs typeface="Rubik"/>
              </a:rPr>
              <a:t>Scenario shocks need calibration to market and credit data.</a:t>
            </a:r>
          </a:p>
        </p:txBody>
      </p:sp>
      <p:sp>
        <p:nvSpPr>
          <p:cNvPr id="15" name="impact-bottom-rule">
            <a:extLst xmlns:a="http://schemas.openxmlformats.org/drawingml/2006/main">
              <a:ext uri="{FF2B5EF4-FFF2-40B4-BE49-F238E27FC236}">
                <a16:creationId xmlns:a16="http://schemas.microsoft.com/office/drawing/2014/main" id="{6476BB08-97AE-4B63-B706-EC173468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772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16" name="impact-next">
            <a:extLst xmlns:a="http://schemas.openxmlformats.org/drawingml/2006/main">
              <a:ext uri="{FF2B5EF4-FFF2-40B4-BE49-F238E27FC236}">
                <a16:creationId xmlns:a16="http://schemas.microsoft.com/office/drawing/2014/main" id="{43C4C27C-6EC0-487A-BAF2-02EC5D67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19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C7C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566C7C"/>
                </a:solidFill>
                <a:latin typeface="Rubik"/>
                <a:ea typeface="Rubik"/>
                <a:cs typeface="Rubik"/>
              </a:rPr>
              <a:t>Next: evaluate signal quality, then calibrate shocks before decision use</a:t>
            </a:r>
          </a:p>
        </p:txBody>
      </p:sp>
    </p:spTree>
    <p:extLst>
      <p:ext uri="{BB962C8B-B14F-4D97-AF65-F5344CB8AC3E}">
        <p14:creationId xmlns:p14="http://schemas.microsoft.com/office/powerpoint/2010/main" val="1840394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2026-10-02T18:09:55.7850000Z</dcterms:created>
  <dcterms:modified xsi:type="dcterms:W3CDTF">2026-10-02T18:09:55.7860000Z</dcterms:modified>
</coreProperties>
</file>